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2. 실행 비용은 얼마이고, 어디에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순위는 여섯 구성에서 모두 같지만, 그 비용이 어떤 연산 그룹에 쓰이는지는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순위와 대응하지 않는다 — Conv 비중은 RNNoise 0%에서 KWS 83.8%까지 흩어진다.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888736"/>
            <a:ext cx="1124712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2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 256 MAC · TOTAL cycles · 여섯 구성의 최소–최대와 각 값, 굵은 점은 중앙값 · 공통 로그축   |   오른쪽 Corstone-320 · U85-256 · 계측 그룹 합계 대비 % (각 모델 TOTAL의 97.9–99.8%)</a:t>
            </a:r>
          </a:p>
          <a:p>
            <a:pPr algn="l">
              <a:lnSpc>
                <a:spcPct val="132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빗금 두 행은 실측 그룹 프로파일이 없어 Vela 추정(연산 단위)이다 — 두 방식이 모두 있는 다섯 모델에서 비중 차이는 0.0–41.2%p (YOLO는 33연산 혼합 클러스터 때문에 가장 크다)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48256"/>
            <a:ext cx="5779007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범위 — 여섯 구성 · 256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48256"/>
            <a:ext cx="510235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비용 구성 — Corstone-320 · U85-256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377440"/>
            <a:ext cx="164592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81544" y="2377440"/>
            <a:ext cx="164592" cy="100584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DepthwiseConv2D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2377440"/>
            <a:ext cx="164592" cy="100584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혼합 그룹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85832" y="2377440"/>
            <a:ext cx="164592" cy="100584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4432" y="2295144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 단일 연산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37976" y="2377440"/>
            <a:ext cx="164592" cy="100584"/>
          </a:xfrm>
          <a:prstGeom prst="rect">
            <a:avLst/>
          </a:prstGeom>
          <a:solidFill>
            <a:srgbClr val="FFFFFF"/>
          </a:solidFill>
          <a:ln w="9525">
            <a:solidFill>
              <a:srgbClr val="8A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66576" y="2295144"/>
            <a:ext cx="118872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Vela 추정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6176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20416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73109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07349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042" y="2633472"/>
            <a:ext cx="0" cy="3072384"/>
          </a:xfrm>
          <a:prstGeom prst="line">
            <a:avLst/>
          </a:prstGeom>
          <a:ln w="9525">
            <a:solidFill>
              <a:srgbClr val="CBD6E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282" y="5733288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33472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73237" y="2852928"/>
            <a:ext cx="61283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957859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93372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32089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35476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35476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50965" y="281178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06698" y="2775204"/>
            <a:ext cx="155448" cy="155448"/>
          </a:xfrm>
          <a:prstGeom prst="ellipse">
            <a:avLst/>
          </a:prstGeom>
          <a:solidFill>
            <a:srgbClr val="1336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29400" y="2688336"/>
            <a:ext cx="4202174" cy="310896"/>
          </a:xfrm>
          <a:prstGeom prst="rect">
            <a:avLst/>
          </a:prstGeom>
          <a:solidFill>
            <a:srgbClr val="BCC6D5"/>
          </a:solidFill>
          <a:ln w="11430">
            <a:solidFill>
              <a:srgbClr val="13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688336"/>
            <a:ext cx="420217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2688336"/>
            <a:ext cx="78638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Vela 추정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072384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63164" y="3291839"/>
            <a:ext cx="360099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38211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67722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10994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8935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89355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22016" y="3250691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63703" y="3214115"/>
            <a:ext cx="155448" cy="155448"/>
          </a:xfrm>
          <a:prstGeom prst="ellipse">
            <a:avLst/>
          </a:prstGeom>
          <a:solidFill>
            <a:srgbClr val="4A7A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29400" y="3127248"/>
            <a:ext cx="3385899" cy="310896"/>
          </a:xfrm>
          <a:prstGeom prst="rect">
            <a:avLst/>
          </a:prstGeom>
          <a:solidFill>
            <a:srgbClr val="BCC6D5"/>
          </a:solidFill>
          <a:ln w="11430">
            <a:solidFill>
              <a:srgbClr val="13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3127248"/>
            <a:ext cx="338589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80.5%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15299" y="3127248"/>
            <a:ext cx="795704" cy="310896"/>
          </a:xfrm>
          <a:prstGeom prst="rect">
            <a:avLst/>
          </a:prstGeom>
          <a:solidFill>
            <a:srgbClr val="CCD9EB"/>
          </a:solidFill>
          <a:ln w="11430">
            <a:solidFill>
              <a:srgbClr val="4A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5299" y="3127248"/>
            <a:ext cx="79570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18.9%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11003" y="3127248"/>
            <a:ext cx="24636" cy="310896"/>
          </a:xfrm>
          <a:prstGeom prst="rect">
            <a:avLst/>
          </a:prstGeom>
          <a:solidFill>
            <a:srgbClr val="DEE1E6"/>
          </a:solidFill>
          <a:ln w="11430">
            <a:solidFill>
              <a:srgbClr val="8A97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27080" y="3127248"/>
            <a:ext cx="78638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Vela 추정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511296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3ABD6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356764" y="3730752"/>
            <a:ext cx="277434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593050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4839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87792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54995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454995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315616" y="3689604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435058" y="3653028"/>
            <a:ext cx="155448" cy="155448"/>
          </a:xfrm>
          <a:prstGeom prst="ellipse">
            <a:avLst/>
          </a:prstGeom>
          <a:solidFill>
            <a:srgbClr val="83AB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29400" y="3566160"/>
            <a:ext cx="123669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3566160"/>
            <a:ext cx="123669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24.2%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6093" y="3566160"/>
            <a:ext cx="1544702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6093" y="3566160"/>
            <a:ext cx="154470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30.3%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0795" y="3566160"/>
            <a:ext cx="2295679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10795" y="3566160"/>
            <a:ext cx="229567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45.0%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06474" y="3566160"/>
            <a:ext cx="2527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50208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927989" y="4169664"/>
            <a:ext cx="324658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211499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1124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04237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66808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966808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86841" y="4128516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52890" y="4091940"/>
            <a:ext cx="155448" cy="1554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29400" y="4005072"/>
            <a:ext cx="401633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29400" y="4005072"/>
            <a:ext cx="401633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78.7%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645732" y="4005072"/>
            <a:ext cx="882416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645732" y="4005072"/>
            <a:ext cx="88241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528148" y="4005072"/>
            <a:ext cx="20360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4389120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C9AA8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775571" y="4608576"/>
            <a:ext cx="390235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124658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943192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917107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54814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54814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734423" y="4567428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850252" y="4530852"/>
            <a:ext cx="155448" cy="155448"/>
          </a:xfrm>
          <a:prstGeom prst="ellipse">
            <a:avLst/>
          </a:prstGeom>
          <a:solidFill>
            <a:srgbClr val="8C9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29400" y="4443983"/>
            <a:ext cx="245953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29400" y="4443983"/>
            <a:ext cx="245953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48.2%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88930" y="4443983"/>
            <a:ext cx="1346099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88930" y="4443983"/>
            <a:ext cx="134609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26.4%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435030" y="4443983"/>
            <a:ext cx="863854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35030" y="4443983"/>
            <a:ext cx="86385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16.9%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298885" y="4443983"/>
            <a:ext cx="43286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7200" y="4828031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C28A1E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570970" y="5047488"/>
            <a:ext cx="113865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3643687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578204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62490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59883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559883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529822" y="5006340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524612" y="4969764"/>
            <a:ext cx="155448" cy="155448"/>
          </a:xfrm>
          <a:prstGeom prst="ellipse">
            <a:avLst/>
          </a:prstGeom>
          <a:solidFill>
            <a:srgbClr val="C28A1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629400" y="4882895"/>
            <a:ext cx="4275931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629400" y="4882895"/>
            <a:ext cx="427593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83.8%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905331" y="4882895"/>
            <a:ext cx="74807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905331" y="4882895"/>
            <a:ext cx="7480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653406" y="4882895"/>
            <a:ext cx="7834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5266944"/>
            <a:ext cx="1408176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259712" y="5486400"/>
            <a:ext cx="954047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172611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904998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218564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2219356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219356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575352" y="5445252"/>
            <a:ext cx="82296" cy="82296"/>
          </a:xfrm>
          <a:prstGeom prst="ellipse">
            <a:avLst/>
          </a:prstGeom>
          <a:solidFill>
            <a:srgbClr val="9FAE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388655" y="5408676"/>
            <a:ext cx="155448" cy="155448"/>
          </a:xfrm>
          <a:prstGeom prst="ellipse">
            <a:avLst/>
          </a:prstGeom>
          <a:solidFill>
            <a:srgbClr val="A40F1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629400" y="5321807"/>
            <a:ext cx="451572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29400" y="5321807"/>
            <a:ext cx="451572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88.5%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145125" y="5321807"/>
            <a:ext cx="58662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145125" y="5321807"/>
            <a:ext cx="58662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11.5%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